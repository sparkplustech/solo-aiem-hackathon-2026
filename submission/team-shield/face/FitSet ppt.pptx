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6" r:id="rId6"/>
    <p:sldId id="267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D"/>
    <a:srgbClr val="191B30"/>
    <a:srgbClr val="19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D0F75-79EA-4DEB-8D6C-7AD5D77771C1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73623-09DF-4B1A-9DEC-08683BCA9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12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EA59-475F-1F0D-2753-EF2D69A04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5323A-25BB-696E-9AD6-086F7C85D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7895F-9012-912F-0914-1C0E3464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4D848-D2EE-F2FF-883B-06F1111F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68F3-CCC0-C06B-205B-381842B5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33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A41D-D700-30BA-C407-7D22F66B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D3896-3742-EC7A-971F-E579F8D4A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17F59-EB38-5E0F-A719-37F8559B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25473-A199-7AB9-3DE1-A777982D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50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032E-9C0E-2FD3-81BA-DC1D202A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29033-3190-014E-234A-414D0C03A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BBC9D-A287-709A-8C24-76F2156E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7519-FF61-11CA-55F9-1B09BBA9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F4E3A-3100-7C35-4DEE-0E4472D3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57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68B4-8B35-277D-71EE-862DE700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C2C88-86B1-0B8B-9E61-7225F0528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D117-4533-1212-5CEF-2B27301C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2F27-3F51-3179-7A50-29E20A19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2AA8-EB69-FE06-954D-D18C44B2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4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B09E-878D-2D00-C27D-EA447363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577D-3136-3981-0655-40D67E530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F5894-2144-575C-A628-CFA16FA8A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F502F-0785-BB71-FEBA-11C1BC47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B6F5B-0BE1-2CE1-BFF0-7C0591A4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D42FB-E777-FFD7-34B8-DEC09714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56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EA34-F253-0088-E3A3-82464402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0C273-0939-6FF6-ED11-BB768667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13DCF-033A-BF30-7AEB-51E4F82F3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26264-14C3-F1F3-8C99-15F94441E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07668-FB7F-596A-E953-FCF70C34A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A75CA-27A6-0A82-D8F8-6B299A51F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B59AB-D73B-93B1-5AE5-D7D35491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7A951-3DC3-B900-4A9F-5D741A20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91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5151-8FA4-AFAA-CC34-AE923D1F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F2FBA-6C68-22A9-2898-EAA0F4A3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35F33-E0FB-5A32-454D-962800C5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B78738-6D3A-67EE-B8B4-3F3B038D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45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E8D34-964F-D471-06D9-38E47AB6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AB2CB-E7B8-C22B-5319-F8056035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1CBD4-A638-8CC1-0117-9DD06C9D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08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E441-A551-0348-DD98-EF44DDFA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8A32B-613F-1954-CBA7-19663B2C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43FC2-3A4C-88D6-AD5B-13F059A11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30F4F-8CAB-DF7B-D1E9-435E8C44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003E4-218B-46E7-B881-1E417C9B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7DD3C-F4C0-1F4E-8A14-D1BF9B7C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62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B75E-2A4E-3C4F-2E47-115AD8CF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AAC8B-0D19-87E1-28B4-38C11E394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4A4E1-8110-1C60-C52B-203DCA93B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CCDB-2221-C904-4D56-2922A1A3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66F8B-EDC8-1F5C-EA05-79B1062E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FF9E-0EC3-187B-7568-00D9D56B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3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FF3B-C1AA-C32E-7228-1D43013C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9AEC-2D65-D697-0E43-13B1CF650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A1E1F-696A-7D54-6842-F8CC3B32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B0418-57B5-C157-D3AA-8041E9D6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9A40A-023F-8816-5E49-A3446723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865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2C35C-4A5D-3B84-6CC9-02100F868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A9628-E4BB-DB67-D457-20D1F231E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76895-A5D5-3FC8-1396-A481069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D5A61-0BDD-07F1-C484-CA332016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0ADAB-D55A-1AF1-6259-67656B23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79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3798026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39712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252573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0A6F2-DF43-141D-106D-CA34C25D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29747-DE62-0483-ACAC-3E388B6A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AE2C-FE05-83C6-DB3E-CB9F31DBA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D3683-A3A6-4758-9D87-5844BDF1B72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EB67-B7DE-A220-7E39-71A92E96C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E3A1-D09C-3FDD-A48B-6CA542DE8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F98A4-4B28-40BB-B42A-31023D276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9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91B30"/>
            </a:gs>
            <a:gs pos="100000">
              <a:srgbClr val="10335D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959B-37B3-F3E8-5FB7-F516B55B8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FitSet</a:t>
            </a:r>
            <a:r>
              <a:rPr lang="en-GB" b="1" dirty="0">
                <a:solidFill>
                  <a:schemeClr val="bg1"/>
                </a:solidFill>
                <a:latin typeface="Book Antiqua" panose="02040602050305030304" pitchFamily="18" charset="0"/>
              </a:rPr>
              <a:t>: Redefining Fitness with Hyper-Personalization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77527-19ED-7854-ABD2-FDC0A9ECD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Combining Goal-Driven AI and Hyper-Local Context for Real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79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rgbClr val="191B30"/>
            </a:gs>
            <a:gs pos="100000">
              <a:srgbClr val="10335D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F36E-A143-45B2-D3B5-D6D82AD9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Introducing </a:t>
            </a:r>
            <a:r>
              <a:rPr lang="en-GB" b="1" dirty="0" err="1">
                <a:solidFill>
                  <a:schemeClr val="bg1"/>
                </a:solidFill>
              </a:rPr>
              <a:t>FitSet</a:t>
            </a:r>
            <a:r>
              <a:rPr lang="en-GB" b="1" dirty="0">
                <a:solidFill>
                  <a:schemeClr val="bg1"/>
                </a:solidFill>
              </a:rPr>
              <a:t>: Intelligent, Tailored Fitness</a:t>
            </a:r>
            <a:br>
              <a:rPr lang="en-GB" b="1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A7035-B6A4-6466-C776-4D44E7FDD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26382"/>
            <a:ext cx="5157787" cy="4863281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The Smart Core</a:t>
            </a:r>
          </a:p>
          <a:p>
            <a:r>
              <a:rPr lang="en-GB" dirty="0" err="1">
                <a:solidFill>
                  <a:schemeClr val="bg1"/>
                </a:solidFill>
              </a:rPr>
              <a:t>FitSet</a:t>
            </a:r>
            <a:r>
              <a:rPr lang="en-GB" dirty="0">
                <a:solidFill>
                  <a:schemeClr val="bg1"/>
                </a:solidFill>
              </a:rPr>
              <a:t> transforms complex user data into simple, actionable daily plans. Our intelligent system processes 7 key inputs—including Body Type, State, and Food Preference—to generate comprehensive fitness strategies.</a:t>
            </a:r>
          </a:p>
          <a:p>
            <a:r>
              <a:rPr lang="en-GB" b="1" dirty="0">
                <a:solidFill>
                  <a:schemeClr val="bg1"/>
                </a:solidFill>
              </a:rPr>
              <a:t>Goal-Driven Precision</a:t>
            </a:r>
          </a:p>
          <a:p>
            <a:r>
              <a:rPr lang="en-GB" dirty="0">
                <a:solidFill>
                  <a:schemeClr val="bg1"/>
                </a:solidFill>
              </a:rPr>
              <a:t>Every recommendation explicitly supports one of three transformation pathways: </a:t>
            </a:r>
            <a:r>
              <a:rPr lang="en-GB" b="1" dirty="0">
                <a:solidFill>
                  <a:schemeClr val="bg1"/>
                </a:solidFill>
              </a:rPr>
              <a:t>Weight Loss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en-GB" b="1" dirty="0">
                <a:solidFill>
                  <a:schemeClr val="bg1"/>
                </a:solidFill>
              </a:rPr>
              <a:t>Bulking</a:t>
            </a:r>
            <a:r>
              <a:rPr lang="en-GB" dirty="0">
                <a:solidFill>
                  <a:schemeClr val="bg1"/>
                </a:solidFill>
              </a:rPr>
              <a:t>, or </a:t>
            </a:r>
            <a:r>
              <a:rPr lang="en-GB" b="1" dirty="0">
                <a:solidFill>
                  <a:schemeClr val="bg1"/>
                </a:solidFill>
              </a:rPr>
              <a:t>Lean</a:t>
            </a:r>
            <a:r>
              <a:rPr lang="en-GB" dirty="0">
                <a:solidFill>
                  <a:schemeClr val="bg1"/>
                </a:solidFill>
              </a:rPr>
              <a:t> muscle gain.</a:t>
            </a:r>
          </a:p>
          <a:p>
            <a:r>
              <a:rPr lang="en-GB" b="1" dirty="0">
                <a:solidFill>
                  <a:schemeClr val="bg1"/>
                </a:solidFill>
              </a:rPr>
              <a:t>Instant Metrics</a:t>
            </a:r>
          </a:p>
          <a:p>
            <a:r>
              <a:rPr lang="en-GB" dirty="0">
                <a:solidFill>
                  <a:schemeClr val="bg1"/>
                </a:solidFill>
              </a:rPr>
              <a:t>Users see their </a:t>
            </a:r>
            <a:r>
              <a:rPr lang="en-GB" b="1" dirty="0">
                <a:solidFill>
                  <a:schemeClr val="bg1"/>
                </a:solidFill>
              </a:rPr>
              <a:t>BMI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en-GB" b="1" dirty="0">
                <a:solidFill>
                  <a:schemeClr val="bg1"/>
                </a:solidFill>
              </a:rPr>
              <a:t>current weight</a:t>
            </a:r>
            <a:r>
              <a:rPr lang="en-GB" dirty="0">
                <a:solidFill>
                  <a:schemeClr val="bg1"/>
                </a:solidFill>
              </a:rPr>
              <a:t>, and </a:t>
            </a:r>
            <a:r>
              <a:rPr lang="en-GB" b="1" dirty="0">
                <a:solidFill>
                  <a:schemeClr val="bg1"/>
                </a:solidFill>
              </a:rPr>
              <a:t>daily calorie goals</a:t>
            </a:r>
            <a:r>
              <a:rPr lang="en-GB" dirty="0">
                <a:solidFill>
                  <a:schemeClr val="bg1"/>
                </a:solidFill>
              </a:rPr>
              <a:t> immediately upon login, providing clarity and direction from day one.</a:t>
            </a:r>
          </a:p>
          <a:p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0155895-5BCD-7D2F-E4E5-4739567449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230" y="984738"/>
            <a:ext cx="3190667" cy="5873262"/>
          </a:xfrm>
        </p:spPr>
      </p:pic>
    </p:spTree>
    <p:extLst>
      <p:ext uri="{BB962C8B-B14F-4D97-AF65-F5344CB8AC3E}">
        <p14:creationId xmlns:p14="http://schemas.microsoft.com/office/powerpoint/2010/main" val="344588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2000">
              <a:srgbClr val="191B30"/>
            </a:gs>
            <a:gs pos="100000">
              <a:srgbClr val="10335D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A2F8-9515-7231-747E-812AE087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Adaptive Planning: Workouts, Cardio, and Sleep, Daily</a:t>
            </a:r>
            <a:br>
              <a:rPr lang="en-GB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C3EBADF-76A3-C77A-DAFF-145267153B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60" y="1688230"/>
            <a:ext cx="2970625" cy="422020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35C3AC-BD0C-DF3E-2882-7B2DC42EF451}"/>
              </a:ext>
            </a:extLst>
          </p:cNvPr>
          <p:cNvSpPr txBox="1"/>
          <p:nvPr/>
        </p:nvSpPr>
        <p:spPr>
          <a:xfrm>
            <a:off x="4321402" y="1854968"/>
            <a:ext cx="37493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AI-Generated Schedule</a:t>
            </a:r>
          </a:p>
          <a:p>
            <a:pPr>
              <a:buNone/>
            </a:pPr>
            <a:r>
              <a:rPr lang="en-GB" dirty="0">
                <a:solidFill>
                  <a:schemeClr val="bg1"/>
                </a:solidFill>
              </a:rPr>
              <a:t>Creates a comprehensive daily timetable covering Workout Sessions, Cardio activities, Nutrition timing, and Sleep optimization based on user-defined time preferences.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EE507-F324-CE6B-46D8-390074C658A9}"/>
              </a:ext>
            </a:extLst>
          </p:cNvPr>
          <p:cNvSpPr txBox="1"/>
          <p:nvPr/>
        </p:nvSpPr>
        <p:spPr>
          <a:xfrm>
            <a:off x="4293577" y="3609294"/>
            <a:ext cx="36048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chemeClr val="bg1"/>
                </a:solidFill>
              </a:rPr>
              <a:t>Workout Customization</a:t>
            </a:r>
          </a:p>
          <a:p>
            <a:pPr>
              <a:buNone/>
            </a:pPr>
            <a:r>
              <a:rPr lang="en-GB" dirty="0">
                <a:solidFill>
                  <a:schemeClr val="bg1"/>
                </a:solidFill>
              </a:rPr>
              <a:t>Supports three expertise levels (Beginner, Intermediate, Advanced) and adapts to two training environments: Home workouts with no equipment or full Gym-based routines.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E8DB0B-8DC4-D039-C042-DE2F77110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8" y="2059316"/>
            <a:ext cx="3484876" cy="313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4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45429" cy="68580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4" name="Text 1"/>
          <p:cNvSpPr/>
          <p:nvPr/>
        </p:nvSpPr>
        <p:spPr>
          <a:xfrm>
            <a:off x="5169893" y="470695"/>
            <a:ext cx="6424216" cy="1067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167"/>
              </a:lnSpc>
            </a:pPr>
            <a:r>
              <a:rPr lang="en-US" sz="3333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Technology Under the Hood</a:t>
            </a:r>
            <a:endParaRPr lang="en-US" sz="333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93" y="1794470"/>
            <a:ext cx="854075" cy="15309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4722" y="1965226"/>
            <a:ext cx="2387402" cy="2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Proprietary Algorithm</a:t>
            </a:r>
            <a:endParaRPr lang="en-US" sz="1667" dirty="0"/>
          </a:p>
        </p:txBody>
      </p:sp>
      <p:sp>
        <p:nvSpPr>
          <p:cNvPr id="7" name="Text 3"/>
          <p:cNvSpPr/>
          <p:nvPr/>
        </p:nvSpPr>
        <p:spPr>
          <a:xfrm>
            <a:off x="6194723" y="2334618"/>
            <a:ext cx="5399385" cy="82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Processes 7 unique user inputs through advanced machine learning to map goal-specific, culturally relevant fitness and nutrition recommendations.</a:t>
            </a:r>
            <a:endParaRPr lang="en-US" sz="133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893" y="3325416"/>
            <a:ext cx="854075" cy="15309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4723" y="3600153"/>
            <a:ext cx="2135386" cy="2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Built for Scale</a:t>
            </a:r>
            <a:endParaRPr lang="en-US" sz="1667" dirty="0"/>
          </a:p>
        </p:txBody>
      </p:sp>
      <p:sp>
        <p:nvSpPr>
          <p:cNvPr id="10" name="Text 5"/>
          <p:cNvSpPr/>
          <p:nvPr/>
        </p:nvSpPr>
        <p:spPr>
          <a:xfrm>
            <a:off x="6194723" y="3865563"/>
            <a:ext cx="5399385" cy="82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Modular architecture designed to seamlessly add new regional diets, workout routines, and advanced features like wearable device integration.</a:t>
            </a:r>
            <a:endParaRPr lang="en-US" sz="1333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893" y="4856361"/>
            <a:ext cx="854075" cy="15309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94723" y="5027117"/>
            <a:ext cx="2135386" cy="2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Unique Value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6194723" y="5396508"/>
            <a:ext cx="5399385" cy="82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perfect blend of goal-based AI intelligence with hyper-local cultural content—a combination that doesn't exist in the market today.</a:t>
            </a:r>
            <a:endParaRPr lang="en-US" sz="1333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919BC0-77F7-5A84-B59D-B824D2075C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245429" cy="89452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4" name="Text 1"/>
          <p:cNvSpPr/>
          <p:nvPr/>
        </p:nvSpPr>
        <p:spPr>
          <a:xfrm>
            <a:off x="5015806" y="433586"/>
            <a:ext cx="6732389" cy="2377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208"/>
              </a:lnSpc>
            </a:pPr>
            <a:r>
              <a:rPr lang="en-US" sz="4958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FitSet: The Future of Personalized Fitness is Here</a:t>
            </a:r>
            <a:endParaRPr lang="en-US" sz="4958" dirty="0"/>
          </a:p>
        </p:txBody>
      </p:sp>
      <p:sp>
        <p:nvSpPr>
          <p:cNvPr id="5" name="Shape 2"/>
          <p:cNvSpPr/>
          <p:nvPr/>
        </p:nvSpPr>
        <p:spPr>
          <a:xfrm>
            <a:off x="5015806" y="3001467"/>
            <a:ext cx="3302793" cy="1338957"/>
          </a:xfrm>
          <a:prstGeom prst="roundRect">
            <a:avLst>
              <a:gd name="adj" fmla="val 1421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5142607" y="3128268"/>
            <a:ext cx="158511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8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We've Built</a:t>
            </a:r>
            <a:endParaRPr lang="en-US" sz="1208" dirty="0"/>
          </a:p>
        </p:txBody>
      </p:sp>
      <p:sp>
        <p:nvSpPr>
          <p:cNvPr id="7" name="Text 4"/>
          <p:cNvSpPr/>
          <p:nvPr/>
        </p:nvSpPr>
        <p:spPr>
          <a:xfrm>
            <a:off x="5142607" y="3402409"/>
            <a:ext cx="3049191" cy="811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9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truly Personalized, Practical, and Indian-centric fitness solution powered by robust AI that solves the critical problem of generic, culturally disconnected fitness apps.</a:t>
            </a:r>
            <a:endParaRPr lang="en-US" sz="958" dirty="0"/>
          </a:p>
        </p:txBody>
      </p:sp>
      <p:sp>
        <p:nvSpPr>
          <p:cNvPr id="8" name="Shape 5"/>
          <p:cNvSpPr/>
          <p:nvPr/>
        </p:nvSpPr>
        <p:spPr>
          <a:xfrm>
            <a:off x="8445401" y="3001467"/>
            <a:ext cx="3302793" cy="1338957"/>
          </a:xfrm>
          <a:prstGeom prst="roundRect">
            <a:avLst>
              <a:gd name="adj" fmla="val 1421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8572203" y="3128268"/>
            <a:ext cx="158511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8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Next Steps</a:t>
            </a:r>
            <a:endParaRPr lang="en-US" sz="1208" dirty="0"/>
          </a:p>
        </p:txBody>
      </p:sp>
      <p:sp>
        <p:nvSpPr>
          <p:cNvPr id="10" name="Text 7"/>
          <p:cNvSpPr/>
          <p:nvPr/>
        </p:nvSpPr>
        <p:spPr>
          <a:xfrm>
            <a:off x="8572203" y="3402409"/>
            <a:ext cx="3049191" cy="811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9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Full-scale beta launch targeting 50,000 users, expanding our recipe database to cover all 28 Indian states, and securing strategic partnerships with nutrition brands and gym chains.</a:t>
            </a:r>
            <a:endParaRPr lang="en-US" sz="958" dirty="0"/>
          </a:p>
        </p:txBody>
      </p:sp>
      <p:sp>
        <p:nvSpPr>
          <p:cNvPr id="11" name="Shape 8"/>
          <p:cNvSpPr/>
          <p:nvPr/>
        </p:nvSpPr>
        <p:spPr>
          <a:xfrm>
            <a:off x="5015806" y="4467225"/>
            <a:ext cx="6732389" cy="933351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5142607" y="4594027"/>
            <a:ext cx="1585119" cy="19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8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Our Vision</a:t>
            </a:r>
            <a:endParaRPr lang="en-US" sz="1208" dirty="0"/>
          </a:p>
        </p:txBody>
      </p:sp>
      <p:sp>
        <p:nvSpPr>
          <p:cNvPr id="13" name="Text 10"/>
          <p:cNvSpPr/>
          <p:nvPr/>
        </p:nvSpPr>
        <p:spPr>
          <a:xfrm>
            <a:off x="5142607" y="4868168"/>
            <a:ext cx="6478786" cy="40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9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Empower millions of Indian users to achieve their fitness goals effectively and sustainably through technology that truly understands their culture, lifestyle, and aspirations.</a:t>
            </a:r>
            <a:endParaRPr lang="en-US" sz="958" dirty="0"/>
          </a:p>
        </p:txBody>
      </p:sp>
      <p:sp>
        <p:nvSpPr>
          <p:cNvPr id="14" name="Text 11"/>
          <p:cNvSpPr/>
          <p:nvPr/>
        </p:nvSpPr>
        <p:spPr>
          <a:xfrm>
            <a:off x="5015806" y="5590779"/>
            <a:ext cx="204311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Support FitSet Today</a:t>
            </a:r>
            <a:endParaRPr lang="en-US" sz="1458" dirty="0"/>
          </a:p>
        </p:txBody>
      </p:sp>
      <p:sp>
        <p:nvSpPr>
          <p:cNvPr id="15" name="Text 12"/>
          <p:cNvSpPr/>
          <p:nvPr/>
        </p:nvSpPr>
        <p:spPr>
          <a:xfrm>
            <a:off x="5015806" y="6018708"/>
            <a:ext cx="6732389" cy="40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9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Join us in revolutionizing how India approaches fitness and wellness. Together, we can make personalized health accessible to everyone.</a:t>
            </a:r>
            <a:endParaRPr lang="en-US" sz="958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7E7E90-4251-53DA-5B4A-63045F405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63" y="0"/>
            <a:ext cx="4686745" cy="8816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B2BF40F8-E856-F2A9-0E59-2870EAD989B8}"/>
              </a:ext>
            </a:extLst>
          </p:cNvPr>
          <p:cNvSpPr/>
          <p:nvPr/>
        </p:nvSpPr>
        <p:spPr>
          <a:xfrm>
            <a:off x="5057413" y="3596684"/>
            <a:ext cx="547020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Gamification Meets Social Support</a:t>
            </a:r>
            <a:endParaRPr lang="en-US" sz="2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261B7102-97E2-6231-1829-065EE2E48360}"/>
              </a:ext>
            </a:extLst>
          </p:cNvPr>
          <p:cNvSpPr/>
          <p:nvPr/>
        </p:nvSpPr>
        <p:spPr>
          <a:xfrm>
            <a:off x="5057413" y="4183900"/>
            <a:ext cx="6351032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FitSet transforms fitness into a measurable, rewarding journey. Our innovative </a:t>
            </a:r>
            <a:r>
              <a:rPr lang="en-US" sz="16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Friends feature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enables users to connect with fitness buddies, leveraging social accountability to dramatically increase adherence rates.</a:t>
            </a:r>
            <a:endParaRPr lang="en-US" sz="1600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15E79E36-1073-458B-DAB7-E23688CBCF82}"/>
              </a:ext>
            </a:extLst>
          </p:cNvPr>
          <p:cNvSpPr/>
          <p:nvPr/>
        </p:nvSpPr>
        <p:spPr>
          <a:xfrm>
            <a:off x="5057413" y="5675039"/>
            <a:ext cx="6351032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Statistics and Progress Log turns every workout into tangible achievement, fostering a sense of accomplishment that drives long-term consistency.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1C5139-960F-E4BD-DB23-5EA16BCEB6E7}"/>
              </a:ext>
            </a:extLst>
          </p:cNvPr>
          <p:cNvSpPr/>
          <p:nvPr/>
        </p:nvSpPr>
        <p:spPr>
          <a:xfrm>
            <a:off x="5058375" y="1033075"/>
            <a:ext cx="3047881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100%</a:t>
            </a:r>
            <a:endParaRPr lang="en-US" sz="5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D01951-1CE1-1C4C-AF43-8DDEAA0B0821}"/>
              </a:ext>
            </a:extLst>
          </p:cNvPr>
          <p:cNvSpPr/>
          <p:nvPr/>
        </p:nvSpPr>
        <p:spPr>
          <a:xfrm>
            <a:off x="5305430" y="1962358"/>
            <a:ext cx="25537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Goal Tracking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89E7B3-E953-DCCA-C49E-0357DF0EFE69}"/>
              </a:ext>
            </a:extLst>
          </p:cNvPr>
          <p:cNvSpPr/>
          <p:nvPr/>
        </p:nvSpPr>
        <p:spPr>
          <a:xfrm>
            <a:off x="5058375" y="2485756"/>
            <a:ext cx="3047881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Complete visibility into workouts completed, streak points earned, and user level progression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3F06B4-A74A-7485-A2EF-68A6E89AF9B1}"/>
              </a:ext>
            </a:extLst>
          </p:cNvPr>
          <p:cNvSpPr/>
          <p:nvPr/>
        </p:nvSpPr>
        <p:spPr>
          <a:xfrm>
            <a:off x="8361526" y="1033075"/>
            <a:ext cx="3047881" cy="67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24/7</a:t>
            </a:r>
            <a:endParaRPr lang="en-US" sz="5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FB61A0-27B5-6AEA-E063-4126F364A8F9}"/>
              </a:ext>
            </a:extLst>
          </p:cNvPr>
          <p:cNvSpPr/>
          <p:nvPr/>
        </p:nvSpPr>
        <p:spPr>
          <a:xfrm>
            <a:off x="8608581" y="1962358"/>
            <a:ext cx="25537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Coach Support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A134942-29EA-C483-B949-0B28FB838190}"/>
              </a:ext>
            </a:extLst>
          </p:cNvPr>
          <p:cNvSpPr/>
          <p:nvPr/>
        </p:nvSpPr>
        <p:spPr>
          <a:xfrm>
            <a:off x="8361526" y="2485756"/>
            <a:ext cx="3047881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On-demand motivation and instant answers to fitness queries</a:t>
            </a:r>
            <a:endParaRPr lang="en-US" sz="16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653CFF9-EAE8-F3C2-5FF5-93ACA26C4C2E}"/>
              </a:ext>
            </a:extLst>
          </p:cNvPr>
          <p:cNvSpPr/>
          <p:nvPr/>
        </p:nvSpPr>
        <p:spPr>
          <a:xfrm>
            <a:off x="615736" y="190470"/>
            <a:ext cx="11933158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Data-Driven Motivation: Building Consistency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BC61F5-3574-BE2E-0A8C-A7D1D091F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62" y="952307"/>
            <a:ext cx="4103989" cy="590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4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63655"/>
            <a:ext cx="10869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Hyper-Local Nutrition: Making Healthy Eating Delicious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661492" y="4835790"/>
            <a:ext cx="2412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Calorie-Goal Bridge</a:t>
            </a:r>
            <a:endParaRPr lang="en-US" sz="1833" dirty="0"/>
          </a:p>
        </p:txBody>
      </p:sp>
      <p:sp>
        <p:nvSpPr>
          <p:cNvPr id="5" name="Text 2"/>
          <p:cNvSpPr/>
          <p:nvPr/>
        </p:nvSpPr>
        <p:spPr>
          <a:xfrm>
            <a:off x="661492" y="5244472"/>
            <a:ext cx="346551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Nutrition Tracker displays daily calorie and macro targets—Protein, Carbs, and Fat—with real-time progress tracking to keep users aligned with their transformation goals.</a:t>
            </a:r>
            <a:endParaRPr lang="en-US" sz="1458" dirty="0"/>
          </a:p>
        </p:txBody>
      </p:sp>
      <p:sp>
        <p:nvSpPr>
          <p:cNvPr id="7" name="Text 3"/>
          <p:cNvSpPr/>
          <p:nvPr/>
        </p:nvSpPr>
        <p:spPr>
          <a:xfrm>
            <a:off x="4363244" y="4835790"/>
            <a:ext cx="30927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 Cuisine Intelligence</a:t>
            </a:r>
            <a:endParaRPr lang="en-US" sz="1833" dirty="0"/>
          </a:p>
        </p:txBody>
      </p:sp>
      <p:sp>
        <p:nvSpPr>
          <p:cNvPr id="8" name="Text 4"/>
          <p:cNvSpPr/>
          <p:nvPr/>
        </p:nvSpPr>
        <p:spPr>
          <a:xfrm>
            <a:off x="4363244" y="5244472"/>
            <a:ext cx="346551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Recipes suggests region-specific healthy dishes perfectly aligned with calorie goals, like Goan-Spiced Chicken Burrito Bowls adjusted for local health preferences and taste profiles.</a:t>
            </a:r>
            <a:endParaRPr lang="en-US" sz="1458" dirty="0"/>
          </a:p>
        </p:txBody>
      </p:sp>
      <p:sp>
        <p:nvSpPr>
          <p:cNvPr id="10" name="Text 5"/>
          <p:cNvSpPr/>
          <p:nvPr/>
        </p:nvSpPr>
        <p:spPr>
          <a:xfrm>
            <a:off x="8064996" y="4835790"/>
            <a:ext cx="25201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Simple Meal Logging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8064996" y="5244472"/>
            <a:ext cx="346551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Users effortlessly log meals and track caloric intake across Breakfast, Lunch, and Dinner, making nutrition management practical and stress-free.</a:t>
            </a:r>
            <a:endParaRPr lang="en-US" sz="1458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68A251-A33B-C47B-FB00-92371E9CA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4" y="1318734"/>
            <a:ext cx="2611479" cy="34036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8CB58E-ABEA-E8C5-A24D-156029864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" t="6919" r="6093" b="2051"/>
          <a:stretch>
            <a:fillRect/>
          </a:stretch>
        </p:blipFill>
        <p:spPr>
          <a:xfrm>
            <a:off x="112126" y="2065231"/>
            <a:ext cx="3746442" cy="24725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6B1F49-92C0-AEE6-6FCC-DB6D88222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846" y="1147718"/>
            <a:ext cx="2987915" cy="3688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566</Words>
  <Application>Microsoft Office PowerPoint</Application>
  <PresentationFormat>Widescreen</PresentationFormat>
  <Paragraphs>50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Noto Sans TC</vt:lpstr>
      <vt:lpstr>Arial</vt:lpstr>
      <vt:lpstr>Book Antiqua</vt:lpstr>
      <vt:lpstr>Calibri</vt:lpstr>
      <vt:lpstr>Calibri Light</vt:lpstr>
      <vt:lpstr>Sora Medium</vt:lpstr>
      <vt:lpstr>Office Theme</vt:lpstr>
      <vt:lpstr>FitSet: Redefining Fitness with Hyper-Personalization </vt:lpstr>
      <vt:lpstr>Introducing FitSet: Intelligent, Tailored Fitness </vt:lpstr>
      <vt:lpstr>Adaptive Planning: Workouts, Cardio, and Sleep, Daily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Amulya Gadekar</dc:creator>
  <cp:lastModifiedBy>Amulya Gadekar</cp:lastModifiedBy>
  <cp:revision>6</cp:revision>
  <dcterms:created xsi:type="dcterms:W3CDTF">2025-10-15T19:06:29Z</dcterms:created>
  <dcterms:modified xsi:type="dcterms:W3CDTF">2025-10-15T19:50:34Z</dcterms:modified>
</cp:coreProperties>
</file>